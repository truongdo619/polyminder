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BD5F8"/>
                </a:solidFill>
              </a:rPr>
              <a:t>WEEKLY PROGRESS REPORT · POLYMINDER v3.3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Guided User Experience Feature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D5F8"/>
                </a:solidFill>
              </a:rPr>
              <a:t>Contextual guidance system, workflow stepper, and
documentation overhaul — implemented end-to-end.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0A4AE"/>
                </a:solidFill>
              </a:rPr>
              <a:t>Truong Dinh Do · RIKEN / JAIST · February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76D2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698480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5029200" cy="1188720"/>
          </a:xfrm>
          <a:prstGeom prst="rect">
            <a:avLst/>
          </a:prstGeom>
          <a:solidFill>
            <a:srgbClr val="E3F0FC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64008" cy="11887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76D2"/>
                </a:solidFill>
              </a:rPr>
              <a:t>🎯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08760"/>
            <a:ext cx="48280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PolyMinder had no structured guidance. New users had no indication of the typical annotation workflow.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423160"/>
            <a:ext cx="5029200" cy="118872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423160"/>
            <a:ext cx="64008" cy="118872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✅ 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88920"/>
            <a:ext cx="482803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Built a complete guided UX system: progress stepper, contextual banners, bug fixes, and full documentation.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143000"/>
            <a:ext cx="5760720" cy="56692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0" i="0">
                <a:solidFill>
                  <a:srgbClr val="212121"/>
                </a:solidFill>
              </a:rPr>
              <a:t>1️⃣  Core Infrastructure (GuidanceSystem)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60" y="1801368"/>
            <a:ext cx="5760720" cy="56692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0" i="0">
                <a:solidFill>
                  <a:srgbClr val="212121"/>
                </a:solidFill>
              </a:rPr>
              <a:t>2️⃣  Workflow Stepper + Contextual Banners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2459736"/>
            <a:ext cx="5760720" cy="56692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0" i="0">
                <a:solidFill>
                  <a:srgbClr val="212121"/>
                </a:solidFill>
              </a:rPr>
              <a:t>3️⃣  Bug Fixes (3 issues found &amp; fixed)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0" y="3118104"/>
            <a:ext cx="5760720" cy="56692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0" i="0">
                <a:solidFill>
                  <a:srgbClr val="212121"/>
                </a:solidFill>
              </a:rPr>
              <a:t>4️⃣  Extended Coverage — All 7 components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3776472"/>
            <a:ext cx="5760720" cy="56692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50" b="0" i="0">
                <a:solidFill>
                  <a:srgbClr val="212121"/>
                </a:solidFill>
              </a:rPr>
              <a:t>5️⃣  Documentation — 4 new + 3 rewritten pages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76D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🏗️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Core Guidance Infrastructure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49039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BD5F8"/>
                </a:solidFill>
              </a:rPr>
              <a:t>New GuidanceSystem module — shared state, dismissible banners, workflow stepper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1148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76D2"/>
                </a:solidFill>
              </a:rPr>
              <a:t>GuidanceSystem Module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698480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438912"/>
            <a:ext cx="1097280" cy="347472"/>
          </a:xfrm>
          <a:prstGeom prst="rect">
            <a:avLst/>
          </a:prstGeom>
          <a:solidFill>
            <a:srgbClr val="2E7D32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2743200" cy="384048"/>
          </a:xfrm>
          <a:prstGeom prst="rect">
            <a:avLst/>
          </a:prstGeom>
          <a:solidFill>
            <a:srgbClr val="1976D2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91840" y="1188720"/>
            <a:ext cx="2651760" cy="384048"/>
          </a:xfrm>
          <a:prstGeom prst="rect">
            <a:avLst/>
          </a:prstGeom>
          <a:solidFill>
            <a:srgbClr val="1976D2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572768"/>
            <a:ext cx="2743200" cy="38404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useGuidance.ts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1572768"/>
            <a:ext cx="2651760" cy="38404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State hook + localStorage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956816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GuidanceContext.tsx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956816"/>
            <a:ext cx="2651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Shared React context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40864"/>
            <a:ext cx="2743200" cy="38404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GuidanceBanner.tsx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2340864"/>
            <a:ext cx="2651760" cy="38404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Dismissible alert component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724912"/>
            <a:ext cx="2743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WorkflowStepper.tsx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2724912"/>
            <a:ext cx="26517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5-step progress bar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2743200" cy="38404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guidanceConfig.ts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3108960"/>
            <a:ext cx="2651760" cy="38404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All guidance definitions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188720"/>
            <a:ext cx="5760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976D2"/>
                </a:solidFill>
              </a:rPr>
              <a:t>Key design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1691640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✓  Single shared state via React Context — toggle in one place affects all components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404872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✓  Persisted to localStorage — dismissals survive page refresh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118104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✓  Per-document reset — completed steps clear when a new document opens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831335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✓  Zero new TypeScript errors — maintained pre-existing baseline throughout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544568"/>
            <a:ext cx="5760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✓  Fully dismissible — experienced users can hide all tips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76D2"/>
                </a:solidFill>
              </a:rPr>
              <a:t>Workflow Stepper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698480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438912"/>
            <a:ext cx="1097280" cy="347472"/>
          </a:xfrm>
          <a:prstGeom prst="rect">
            <a:avLst/>
          </a:prstGeom>
          <a:solidFill>
            <a:srgbClr val="2E7D32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46E7A"/>
                </a:solidFill>
              </a:rPr>
              <a:t>A collapsible 5-step progress bar at the top of the PDF viewer. Each step ticks when its condition is met.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11064240" cy="1463040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178308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185416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Upload PDF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947672"/>
            <a:ext cx="173736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91840" y="178308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9184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185416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Review Entities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03320" y="1947672"/>
            <a:ext cx="173736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486400" y="1783080"/>
            <a:ext cx="365760" cy="365760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185416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12121"/>
                </a:solidFill>
              </a:rPr>
              <a:t>Check Relations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7880" y="1947672"/>
            <a:ext cx="173736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680960" y="1783080"/>
            <a:ext cx="365760" cy="365760"/>
          </a:xfrm>
          <a:prstGeom prst="ellipse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096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opt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2185416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</a:rPr>
              <a:t>Run LLM
(optional)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92440" y="1947672"/>
            <a:ext cx="1737360" cy="36576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875520" y="1783080"/>
            <a:ext cx="365760" cy="365760"/>
          </a:xfrm>
          <a:prstGeom prst="ellipse">
            <a:avLst/>
          </a:prstGeom>
          <a:solidFill>
            <a:srgbClr val="BBBB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17830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55480" y="2185416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546E7A"/>
                </a:solidFill>
              </a:rPr>
              <a:t>Export 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06324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46E7A"/>
                </a:solidFill>
              </a:rPr>
              <a:t>Workflow Guide — (3/4) required steps complete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3474720"/>
            <a:ext cx="3566160" cy="1371600"/>
          </a:xfrm>
          <a:prstGeom prst="rect">
            <a:avLst/>
          </a:prstGeom>
          <a:solidFill>
            <a:srgbClr val="E3F0FC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3474720"/>
            <a:ext cx="64008" cy="137160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566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76D2"/>
                </a:solidFill>
              </a:rPr>
              <a:t>CLICK TO NAVIGATE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840480"/>
            <a:ext cx="3364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Each step is clickable — jumps directly to that annotation mode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474720"/>
            <a:ext cx="3566160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3474720"/>
            <a:ext cx="64008" cy="137160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80560" y="3566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OPTIONAL STEP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80560" y="3840480"/>
            <a:ext cx="3364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LLM step shown in faded blue with "(optional)" label — skipped in required count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60" y="3474720"/>
            <a:ext cx="3566160" cy="1371600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138160" y="3474720"/>
            <a:ext cx="64008" cy="1371600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35661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COLLAPSIBLE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75320" y="3840480"/>
            <a:ext cx="33649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Collapses to a one-line summary showing only the next required step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76D2"/>
                </a:solidFill>
              </a:rPr>
              <a:t>Contextual Guidance Banners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698480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438912"/>
            <a:ext cx="1097280" cy="347472"/>
          </a:xfrm>
          <a:prstGeom prst="rect">
            <a:avLst/>
          </a:prstGeom>
          <a:solidFill>
            <a:srgbClr val="2E7D32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46E7A"/>
                </a:solidFill>
              </a:rPr>
              <a:t>17 banner items defined in guidanceConfig.ts, each with a condition, context, and priority.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394960" cy="1005840"/>
          </a:xfrm>
          <a:prstGeom prst="rect">
            <a:avLst/>
          </a:prstGeom>
          <a:solidFill>
            <a:srgbClr val="E3F0FC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47A1"/>
                </a:solidFill>
              </a:rPr>
              <a:t>💡 ENTITIES EXTRACTED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20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Click any entity to scroll to it in the PDF. Right-click for edit and delete options.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51760"/>
            <a:ext cx="5394960" cy="1005840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6974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7C00"/>
                </a:solidFill>
              </a:rPr>
              <a:t>⚠️ NO RELATIONS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01752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212121"/>
                </a:solidFill>
              </a:rPr>
              <a:t>No relationships extracted yet. Try re-running the RE model from the toolbar.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1430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1976D2"/>
                </a:solidFill>
              </a:rPr>
              <a:t>17 guidance items across 7 components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3931920" cy="347472"/>
          </a:xfrm>
          <a:prstGeom prst="rect">
            <a:avLst/>
          </a:prstGeom>
          <a:solidFill>
            <a:srgbClr val="1976D2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Component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241280" y="1554480"/>
            <a:ext cx="914400" cy="347472"/>
          </a:xfrm>
          <a:prstGeom prst="rect">
            <a:avLst/>
          </a:prstGeom>
          <a:solidFill>
            <a:srgbClr val="1976D2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Banners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1901952"/>
            <a:ext cx="393192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DocumentList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241280" y="1901952"/>
            <a:ext cx="9144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249424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Sidebar (Entities/Relations)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2249424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2596896"/>
            <a:ext cx="393192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LLMSidebar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0" y="2596896"/>
            <a:ext cx="9144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2944368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SettingSidebar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241280" y="2944368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3291840"/>
            <a:ext cx="393192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EventSidebar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241280" y="3291840"/>
            <a:ext cx="9144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639312"/>
            <a:ext cx="393192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TableSidebar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241280" y="3639312"/>
            <a:ext cx="914400" cy="3474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986784"/>
            <a:ext cx="393192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ParagraphSidebar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241280" y="3986784"/>
            <a:ext cx="914400" cy="347472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 i="0">
                <a:solidFill>
                  <a:srgbClr val="212121"/>
                </a:solidFill>
              </a:rP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76D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Bug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49039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BD5F8"/>
                </a:solidFill>
              </a:rPr>
              <a:t>3 issues discovered during testing — all fixed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1148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76D2"/>
                </a:solidFill>
              </a:rPr>
              <a:t>3 Bugs Found &amp; Fixed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698480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438912"/>
            <a:ext cx="1097280" cy="347472"/>
          </a:xfrm>
          <a:prstGeom prst="rect">
            <a:avLst/>
          </a:prstGeom>
          <a:solidFill>
            <a:srgbClr val="F57C00"/>
          </a:solidFill>
          <a:ln w="635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FIXED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508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64008" cy="1508760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Bug 1 — Shared state (toggle had no effect)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1086307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Root cause: Each component called useGuidance() independently → isolated localStorage reads per component. Toggle in SettingSidebar only updated its own instance.
Fix: Created GuidanceContext.tsx with a single GuidanceProvider at app root. All components share one state via useGuidanceContext().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88920"/>
            <a:ext cx="11064240" cy="1508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88920"/>
            <a:ext cx="64008" cy="1508760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Bug 2 — "Check Relations" ticked immediately on 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54680"/>
            <a:ext cx="1086307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Root cause: isComplete: (s) =&gt; s.relationCount &gt; 0 fired the moment the NLP model returned any relations — before the user did anything.
Fix: Changed to () =&gt; false. Now ticks only when user switches to Relations mode via completeStep('review-relations').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34840"/>
            <a:ext cx="11064240" cy="1508760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434840"/>
            <a:ext cx="64008" cy="1508760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526280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Bug 3 — Stale completed steps across documents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800600"/>
            <a:ext cx="1086307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Root cause: completedSteps in localStorage persisted when opening a new document — steps appeared ticked before the user did anything.
Fix: Added resetCompletedSteps(); called in ResultComponent whenever documentId changes (tracked via useRef).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76D2"/>
                </a:solidFill>
              </a:rPr>
              <a:t>Step Completion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698480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0" i="0">
                <a:solidFill>
                  <a:srgbClr val="546E7A"/>
                </a:solidFill>
              </a:rPr>
              <a:t>Each step uses two independent signals — either one triggers the tick: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54480"/>
            <a:ext cx="2194560" cy="384048"/>
          </a:xfrm>
          <a:prstGeom prst="rect">
            <a:avLst/>
          </a:prstGeom>
          <a:solidFill>
            <a:srgbClr val="1976D2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554480"/>
            <a:ext cx="3474720" cy="384048"/>
          </a:xfrm>
          <a:prstGeom prst="rect">
            <a:avLst/>
          </a:prstGeom>
          <a:solidFill>
            <a:srgbClr val="1976D2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Data-driven (auto)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554480"/>
            <a:ext cx="5029200" cy="384048"/>
          </a:xfrm>
          <a:prstGeom prst="rect">
            <a:avLst/>
          </a:prstGeom>
          <a:solidFill>
            <a:srgbClr val="1976D2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Action-driven (user visit)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38528"/>
            <a:ext cx="2194560" cy="38404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Upload PDF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938528"/>
            <a:ext cx="3474720" cy="38404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documentId !== null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938528"/>
            <a:ext cx="5029200" cy="38404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322576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Review Entities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322576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highlights.length &gt; 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2322576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706624"/>
            <a:ext cx="2194560" cy="38404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Check Relations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706624"/>
            <a:ext cx="3474720" cy="38404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— (always false)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2706624"/>
            <a:ext cx="5029200" cy="38404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User switches to Relations mode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090672"/>
            <a:ext cx="219456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Run LLM (opt.)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0" y="3090672"/>
            <a:ext cx="34747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LLLOutput has entities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3090672"/>
            <a:ext cx="502920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User switches to LLM mode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474720"/>
            <a:ext cx="2194560" cy="38404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1" i="0">
                <a:solidFill>
                  <a:srgbClr val="212121"/>
                </a:solidFill>
              </a:rPr>
              <a:t>Export Results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3474720"/>
            <a:ext cx="3474720" cy="38404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— (always false)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474720"/>
            <a:ext cx="5029200" cy="384048"/>
          </a:xfrm>
          <a:prstGeom prst="rect">
            <a:avLst/>
          </a:prstGeom>
          <a:solidFill>
            <a:srgbClr val="FAFBFC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User downloads PDF or JSON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389120"/>
            <a:ext cx="11064240" cy="822960"/>
          </a:xfrm>
          <a:prstGeom prst="rect">
            <a:avLst/>
          </a:prstGeom>
          <a:solidFill>
            <a:srgbClr val="E3F0FC"/>
          </a:solidFill>
          <a:ln w="1270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WorkflowStepper: isComplete(step) || isStepComplete(step.id) — combines both signals. Optional step is skipped in active-step calculation and required-step counter.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976D2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</a:rPr>
              <a:t>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7432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</a:rPr>
              <a:t>Documentation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749039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BD5F8"/>
                </a:solidFill>
              </a:rPr>
              <a:t>4 new pages · 3 rewritten pages · 20 real FAQs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4114800"/>
            <a:ext cx="2286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0" b="1" i="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76D2"/>
                </a:solidFill>
              </a:rPr>
              <a:t>New Documentation Pages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698480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438912"/>
            <a:ext cx="1097280" cy="347472"/>
          </a:xfrm>
          <a:prstGeom prst="rect">
            <a:avLst/>
          </a:prstGeom>
          <a:solidFill>
            <a:srgbClr val="2E7D32"/>
          </a:solidFill>
          <a:ln w="63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NEW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5577840" cy="2423160"/>
          </a:xfrm>
          <a:prstGeom prst="rect">
            <a:avLst/>
          </a:prstGeom>
          <a:solidFill>
            <a:srgbClr val="E3F0FC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43000"/>
            <a:ext cx="64008" cy="242316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76D2"/>
                </a:solidFill>
              </a:rPr>
              <a:t>🤖 LLM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508760"/>
            <a:ext cx="53766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✓  Switch to LLM mode &amp; click paragraph blocks
✓  Choose prompt preset and model
✓  Parse LLM output → review entities
✓  Compare with model output side-by-side
✓  Merge selected entities into main annotation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79" y="1143000"/>
            <a:ext cx="5577840" cy="24231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55079" y="1143000"/>
            <a:ext cx="64008" cy="242316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39" y="12344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D32"/>
                </a:solidFill>
              </a:rPr>
              <a:t>📊 Tables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39" y="1508760"/>
            <a:ext cx="53766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✓  Browse detected tables in sidebar
✓  Edit table content (OCR corrections)
✓  Run LLM to convert table to natural language
✓  Drag-and-drop to reorder tables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749039"/>
            <a:ext cx="5577840" cy="242316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749039"/>
            <a:ext cx="64008" cy="2423160"/>
          </a:xfrm>
          <a:prstGeom prst="rect">
            <a:avLst/>
          </a:prstGeom>
          <a:solidFill>
            <a:srgbClr val="6A1B9A"/>
          </a:solidFill>
          <a:ln>
            <a:solidFill>
              <a:srgbClr val="6A1B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84047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A1B9A"/>
                </a:solidFill>
              </a:rPr>
              <a:t>⚡ Events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114799"/>
            <a:ext cx="53766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✓  What events are (trigger + arguments)
✓  Filter by paragraph with checkbox dialog
✓  Edit trigger text and argument roles
✓  Confirm and export events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79" y="3749039"/>
            <a:ext cx="5577840" cy="2423160"/>
          </a:xfrm>
          <a:prstGeom prst="rect">
            <a:avLst/>
          </a:prstGeom>
          <a:solidFill>
            <a:srgbClr val="FFF3E0"/>
          </a:solidFill>
          <a:ln w="127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55079" y="3749039"/>
            <a:ext cx="64008" cy="2423160"/>
          </a:xfrm>
          <a:prstGeom prst="rect">
            <a:avLst/>
          </a:prstGeom>
          <a:solidFill>
            <a:srgbClr val="F57C00"/>
          </a:solidFill>
          <a:ln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39" y="384047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7C00"/>
                </a:solidFill>
              </a:rPr>
              <a:t>🗺️ Workflow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4114799"/>
            <a:ext cx="5376672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✓  The 5-step stepper explained
✓  Optional vs required steps
✓  Guidance banners and how to dismiss
✓  Enable/disable in settings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76D2"/>
                </a:solidFill>
              </a:rPr>
              <a:t>Rewritten Existing Pages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698480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438912"/>
            <a:ext cx="1097280" cy="347472"/>
          </a:xfrm>
          <a:prstGeom prst="rect">
            <a:avLst/>
          </a:prstGeom>
          <a:solidFill>
            <a:srgbClr val="1976D2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UPDATED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11064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64008" cy="1508760"/>
          </a:xfrm>
          <a:prstGeom prst="rect">
            <a:avLst/>
          </a:prstGeom>
          <a:solidFill>
            <a:srgbClr val="1976D2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29844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976D2"/>
                </a:solidFill>
              </a:rPr>
              <a:t>Result Visualization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0" y="1325880"/>
            <a:ext cx="1371600" cy="320040"/>
          </a:xfrm>
          <a:prstGeom prst="rect">
            <a:avLst/>
          </a:prstGeom>
          <a:solidFill>
            <a:srgbClr val="E3F0FC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976D2"/>
                </a:solidFill>
              </a:rPr>
              <a:t>3 → 6 modes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Extended "Change Mode" section to cover all six working modes (added Events, Tables, LLM) with cross-links to dedicated pages. Updated layout table to include Workflow Guide.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34640"/>
            <a:ext cx="11064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34640"/>
            <a:ext cx="64008" cy="1508760"/>
          </a:xfrm>
          <a:prstGeom prst="rect">
            <a:avLst/>
          </a:prstGeom>
          <a:solidFill>
            <a:srgbClr val="1976D2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4436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976D2"/>
                </a:solidFill>
              </a:rPr>
              <a:t>Quick-Start Guide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058400" y="2971800"/>
            <a:ext cx="1371600" cy="320040"/>
          </a:xfrm>
          <a:prstGeom prst="rect">
            <a:avLst/>
          </a:prstGeom>
          <a:solidFill>
            <a:srgbClr val="E3F0FC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976D2"/>
                </a:solidFill>
              </a:rPr>
              <a:t>4 → 6 steps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3756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Rewritten as a proper 6-step tutorial (Sign In → Upload → Open → Follow Workflow Guide → Edit → Export). Added "What's next?" cross-link table for all features.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80560"/>
            <a:ext cx="1106424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480560"/>
            <a:ext cx="64008" cy="1508760"/>
          </a:xfrm>
          <a:prstGeom prst="rect">
            <a:avLst/>
          </a:prstGeom>
          <a:solidFill>
            <a:srgbClr val="1976D2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590288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976D2"/>
                </a:solidFill>
              </a:rPr>
              <a:t>FAQ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4617720"/>
            <a:ext cx="1371600" cy="320040"/>
          </a:xfrm>
          <a:prstGeom prst="rect">
            <a:avLst/>
          </a:prstGeom>
          <a:solidFill>
            <a:srgbClr val="E3F0FC"/>
          </a:solidFill>
          <a:ln w="635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 i="0">
                <a:solidFill>
                  <a:srgbClr val="1976D2"/>
                </a:solidFill>
              </a:rPr>
              <a:t>Empty → 20 Q&amp;As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983480"/>
            <a:ext cx="106984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Replaced the "Coming soon" placeholder with 20 real questions across 6 categories: General, Documents, Entities/Relations, LLM Extraction, Saving/Exporting, Account.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76D2"/>
                </a:solidFill>
              </a:rPr>
              <a:t>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698480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35661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976D2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46E7A"/>
                </a:solidFill>
              </a:rPr>
              <a:t>Phases Completed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3400" y="1143000"/>
            <a:ext cx="35661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43400" y="11887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976D2"/>
                </a:solidFill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920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46E7A"/>
                </a:solidFill>
              </a:rPr>
              <a:t>Guidance Banners
across 7 Components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143000"/>
            <a:ext cx="3566160" cy="12801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38160" y="1188720"/>
            <a:ext cx="3566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976D2"/>
                </a:solidFill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192024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46E7A"/>
                </a:solidFill>
              </a:rPr>
              <a:t>New TypeScript
Errors Introduced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606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976D2"/>
                </a:solidFill>
              </a:rPr>
              <a:t>New files created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✓  5 GuidanceSystem TypeScript modules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520439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✓  1 Guidance CSS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02336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✓  4 documentation markdown pages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52628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✓  1 weekly report slide deck (HTML)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6060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976D2"/>
                </a:solidFill>
              </a:rPr>
              <a:t>Existing files modified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1752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✓  7 React components integrated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520439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✓  3 markdown pages rewritten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02336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✓  DocsPage.tsx — 4 new nav entries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526280"/>
            <a:ext cx="53949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</a:rPr>
              <a:t>✓  App.tsx — GuidanceProvider at root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976D2"/>
                </a:solidFill>
              </a:rPr>
              <a:t>Potential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60120"/>
            <a:ext cx="10698480" cy="36576"/>
          </a:xfrm>
          <a:prstGeom prst="rect">
            <a:avLst/>
          </a:prstGeom>
          <a:solidFill>
            <a:srgbClr val="E3F0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76D2"/>
                </a:solidFill>
              </a:rPr>
              <a:t>Short term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600200"/>
            <a:ext cx="5394960" cy="1371600"/>
          </a:xfrm>
          <a:prstGeom prst="rect">
            <a:avLst/>
          </a:prstGeom>
          <a:solidFill>
            <a:srgbClr val="FAFBFC"/>
          </a:solidFill>
          <a:ln w="1270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64008" cy="1371600"/>
          </a:xfrm>
          <a:prstGeom prst="rect">
            <a:avLst/>
          </a:prstGeom>
          <a:solidFill>
            <a:srgbClr val="546E7A"/>
          </a:solidFill>
          <a:ln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46E7A"/>
                </a:solidFill>
              </a:rPr>
              <a:t>User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5193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Observe first-time users with the guidance system. Identify banners that are confusing or unhelpful.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5394960" cy="1371600"/>
          </a:xfrm>
          <a:prstGeom prst="rect">
            <a:avLst/>
          </a:prstGeom>
          <a:solidFill>
            <a:srgbClr val="FAFBFC"/>
          </a:solidFill>
          <a:ln w="1270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64008" cy="1371600"/>
          </a:xfrm>
          <a:prstGeom prst="rect">
            <a:avLst/>
          </a:prstGeom>
          <a:solidFill>
            <a:srgbClr val="546E7A"/>
          </a:solidFill>
          <a:ln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200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46E7A"/>
                </a:solidFill>
              </a:rPr>
              <a:t>Banner Copy Refinement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5193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Improve wording based on feedback; shorten descriptions that are too long.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617720"/>
            <a:ext cx="5394960" cy="1371600"/>
          </a:xfrm>
          <a:prstGeom prst="rect">
            <a:avLst/>
          </a:prstGeom>
          <a:solidFill>
            <a:srgbClr val="FAFBFC"/>
          </a:solidFill>
          <a:ln w="12700"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4617720"/>
            <a:ext cx="64008" cy="1371600"/>
          </a:xfrm>
          <a:prstGeom prst="rect">
            <a:avLst/>
          </a:prstGeom>
          <a:solidFill>
            <a:srgbClr val="546E7A"/>
          </a:solidFill>
          <a:ln>
            <a:solidFill>
              <a:srgbClr val="546E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4709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46E7A"/>
                </a:solidFill>
              </a:rPr>
              <a:t>Screenshots for New Docs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983480"/>
            <a:ext cx="5193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Add screenshots to the LLM Extraction, Tables, and Events documentation pages.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1430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976D2"/>
                </a:solidFill>
              </a:rPr>
              <a:t>Future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600200"/>
            <a:ext cx="5394960" cy="1371600"/>
          </a:xfrm>
          <a:prstGeom prst="rect">
            <a:avLst/>
          </a:prstGeom>
          <a:solidFill>
            <a:srgbClr val="E3F0FC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1600200"/>
            <a:ext cx="64008" cy="137160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6916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76D2"/>
                </a:solidFill>
              </a:rPr>
              <a:t>Guided Tour Mode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965960"/>
            <a:ext cx="5193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Step-by-step walkthrough using react-joyride that highlights specific UI elements with overlay.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3108960"/>
            <a:ext cx="5394960" cy="1371600"/>
          </a:xfrm>
          <a:prstGeom prst="rect">
            <a:avLst/>
          </a:prstGeom>
          <a:solidFill>
            <a:srgbClr val="E3F0FC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0" y="3108960"/>
            <a:ext cx="64008" cy="137160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320040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76D2"/>
                </a:solidFill>
              </a:rPr>
              <a:t>Per-Document Progress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3474720"/>
            <a:ext cx="5193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Track workflow completion per document ID rather than globally across all documents.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617720"/>
            <a:ext cx="5394960" cy="1371600"/>
          </a:xfrm>
          <a:prstGeom prst="rect">
            <a:avLst/>
          </a:prstGeom>
          <a:solidFill>
            <a:srgbClr val="E3F0FC"/>
          </a:solidFill>
          <a:ln w="127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617720"/>
            <a:ext cx="64008" cy="137160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37960" y="47091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976D2"/>
                </a:solidFill>
              </a:rPr>
              <a:t>Onboarding Wizard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983480"/>
            <a:ext cx="519379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A one-time modal for brand-new accounts walking through the core workflow in 3 steps.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 w="63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BBD5F8"/>
                </a:solidFill>
              </a:rPr>
              <a:t>POLYMINDER v3.3 · FEBRUARY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91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D5F8"/>
                </a:solidFill>
              </a:rPr>
              <a:t>Questions welcome.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A4AE"/>
                </a:solidFill>
              </a:rPr>
              <a:t>Truong Dinh Do
RIKEN Center for Advanced Intelligence Project / JAIST
truongdo@jaist.ac.jp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1976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