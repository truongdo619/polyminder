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09728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BBDEFB"/>
                </a:solidFill>
                <a:latin typeface="Segoe UI"/>
              </a:rPr>
              <a:t>WEEKLY PROGRESS REPORT  ·  POLYMINDER V3.3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64592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spcAft>
                <a:spcPts val="50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Entity Editing UX Overhaul</a:t>
            </a:r>
          </a:p>
          <a:p>
            <a:pPr algn="l">
              <a:lnSpc>
                <a:spcPts val="4400"/>
              </a:lnSpc>
              <a:spcAft>
                <a:spcPts val="50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&amp; Responsive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474720"/>
            <a:ext cx="9144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BBDEFB"/>
                </a:solidFill>
                <a:latin typeface="Segoe UI"/>
              </a:rPr>
              <a:t>Inline editing panel, live BRAT preview, optimistic saves,
constraint-aware relations, responsive layout fixes, and BRAT rendering reliability.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02920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90CAF9"/>
                </a:solidFill>
                <a:latin typeface="Segoe UI"/>
              </a:rPr>
              <a:t>Truong Dinh Do  ·  RIKEN / JAIST  ·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21208"/>
            <a:ext cx="6400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976D2"/>
                </a:solidFill>
                <a:latin typeface="Segoe U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66690" y="886968"/>
            <a:ext cx="10611772" cy="36576"/>
          </a:xfrm>
          <a:prstGeom prst="rect">
            <a:avLst/>
          </a:prstGeom>
          <a:solidFill>
            <a:srgbClr val="E3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3232" y="1207008"/>
            <a:ext cx="4572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1207008"/>
            <a:ext cx="5186019" cy="1371600"/>
          </a:xfrm>
          <a:prstGeom prst="rect">
            <a:avLst/>
          </a:prstGeom>
          <a:solidFill>
            <a:srgbClr val="E3F0FC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280160"/>
            <a:ext cx="495741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976D2"/>
                </a:solidFill>
                <a:latin typeface="Segoe UI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572768"/>
            <a:ext cx="4957419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Entity editing required a full-screen modal dialog with 3 tabs, hard-coded relation types, and a page reload on every save. No live visual feedback. BRAT preview had rendering reliability issues and layout problems on resize.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761488"/>
            <a:ext cx="45720" cy="1188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" y="2761488"/>
            <a:ext cx="5186019" cy="1188720"/>
          </a:xfrm>
          <a:prstGeom prst="rect">
            <a:avLst/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834640"/>
            <a:ext cx="495741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2E7D32"/>
                </a:solidFill>
                <a:latin typeface="Segoe UI"/>
              </a:rP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127248"/>
            <a:ext cx="4957419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Replaced with a fast inline panel, live BRAT visualization with robust rendering, optimistic saves, schema-driven constraints, and responsive layout handling.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6723" y="1207008"/>
            <a:ext cx="5231739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3883" y="1234440"/>
            <a:ext cx="2743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976D2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3923" y="1234440"/>
            <a:ext cx="4683099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Inline EntityEditPanel (replaces Dialog)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6723" y="1645920"/>
            <a:ext cx="5231739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3883" y="1673352"/>
            <a:ext cx="2743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976D2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3923" y="1673352"/>
            <a:ext cx="4683099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Live BRAT Preview (paragraph context)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6723" y="2084832"/>
            <a:ext cx="5231739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3883" y="2112264"/>
            <a:ext cx="2743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976D2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3923" y="2112264"/>
            <a:ext cx="4683099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Settings-driven Relations &amp; Constraints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6723" y="2523744"/>
            <a:ext cx="5231739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3883" y="2551176"/>
            <a:ext cx="2743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976D2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3923" y="2551176"/>
            <a:ext cx="4683099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Optimistic Saves (no page reload)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6723" y="2962656"/>
            <a:ext cx="5231739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3883" y="2990088"/>
            <a:ext cx="2743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976D2"/>
                </a:solidFill>
                <a:latin typeface="Segoe U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3923" y="2990088"/>
            <a:ext cx="4683099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Responsive Layout &amp; Overflow Fixes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6723" y="3401568"/>
            <a:ext cx="5231739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3883" y="3429000"/>
            <a:ext cx="2743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976D2"/>
                </a:solidFill>
                <a:latin typeface="Segoe U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3923" y="3429000"/>
            <a:ext cx="4683099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BRAT Rendering Reliability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6723" y="3840480"/>
            <a:ext cx="5231739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3883" y="3867912"/>
            <a:ext cx="2743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976D2"/>
                </a:solidFill>
                <a:latin typeface="Segoe U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3923" y="3867912"/>
            <a:ext cx="4683099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Bug Fixes &amp; UI Polish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0"/>
            <a:ext cx="1219169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800" b="0" i="0">
                <a:solidFill>
                  <a:srgbClr val="FFFFFF"/>
                </a:solidFill>
                <a:latin typeface="Segoe UI"/>
              </a:rPr>
              <a:t>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Before vs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91840"/>
            <a:ext cx="1219169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 i="0">
                <a:solidFill>
                  <a:srgbClr val="BBDEFB"/>
                </a:solidFill>
                <a:latin typeface="Segoe UI"/>
              </a:rPr>
              <a:t>From modal dialog to inline panel — fewer clicks, no context switch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5852160"/>
            <a:ext cx="10972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7200" b="1" i="0">
                <a:solidFill>
                  <a:srgbClr val="3A9AE8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21208"/>
            <a:ext cx="6400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976D2"/>
                </a:solidFill>
                <a:latin typeface="Segoe UI"/>
              </a:rPr>
              <a:t>Editing UX: Before vs After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923734" y="886968"/>
            <a:ext cx="10554728" cy="36576"/>
          </a:xfrm>
          <a:prstGeom prst="rect">
            <a:avLst/>
          </a:prstGeom>
          <a:solidFill>
            <a:srgbClr val="E3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232" y="1115568"/>
          <a:ext cx="1078992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645920"/>
                <a:gridCol w="5212080"/>
              </a:tblGrid>
              <a:tr h="34747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Action</a:t>
                      </a:r>
                    </a:p>
                  </a:txBody>
                  <a:tcPr anchor="ctr" marL="91440" marR="45720" marT="27432" marB="27432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Before (clicks)</a:t>
                      </a:r>
                    </a:p>
                  </a:txBody>
                  <a:tcPr anchor="ctr" marL="91440" marR="45720" marT="27432" marB="27432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After (clicks)</a:t>
                      </a:r>
                    </a:p>
                  </a:txBody>
                  <a:tcPr anchor="ctr" marL="91440" marR="45720" marT="27432" marB="27432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How</a:t>
                      </a:r>
                    </a:p>
                  </a:txBody>
                  <a:tcPr anchor="ctr" marL="91440" marR="45720" marT="27432" marB="27432">
                    <a:solidFill>
                      <a:srgbClr val="1976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1"/>
                          </a:solidFill>
                          <a:latin typeface="Segoe UI"/>
                        </a:rPr>
                        <a:t>Change entity type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1"/>
                          </a:solidFill>
                          <a:latin typeface="Segoe UI"/>
                        </a:rPr>
                        <a:t>Colored chip grid — single click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1"/>
                          </a:solidFill>
                          <a:latin typeface="Segoe UI"/>
                        </a:rPr>
                        <a:t>Add a relation</a:t>
                      </a:r>
                    </a:p>
                  </a:txBody>
                  <a:tcPr anchor="ctr" marL="9144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  <a:latin typeface="Segoe UI"/>
                        </a:rPr>
                        <a:t>7+</a:t>
                      </a:r>
                    </a:p>
                  </a:txBody>
                  <a:tcPr anchor="ctr" marL="9144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9144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1"/>
                          </a:solidFill>
                          <a:latin typeface="Segoe UI"/>
                        </a:rPr>
                        <a:t>Constraint-filtered dropdowns inline</a:t>
                      </a:r>
                    </a:p>
                  </a:txBody>
                  <a:tcPr anchor="ctr" marL="91440" marR="45720" marT="27432" marB="27432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1"/>
                          </a:solidFill>
                          <a:latin typeface="Segoe UI"/>
                        </a:rPr>
                        <a:t>Edit relation type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1"/>
                          </a:solidFill>
                          <a:latin typeface="Segoe UI"/>
                        </a:rPr>
                        <a:t>Click pill → pick type from dropdown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1"/>
                          </a:solidFill>
                          <a:latin typeface="Segoe UI"/>
                        </a:rPr>
                        <a:t>Delete a relation</a:t>
                      </a:r>
                    </a:p>
                  </a:txBody>
                  <a:tcPr anchor="ctr" marL="9144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9144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L="9144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1"/>
                          </a:solidFill>
                          <a:latin typeface="Segoe UI"/>
                        </a:rPr>
                        <a:t>Single trash icon click</a:t>
                      </a:r>
                    </a:p>
                  </a:txBody>
                  <a:tcPr anchor="ctr" marL="91440" marR="45720" marT="27432" marB="27432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1"/>
                          </a:solidFill>
                          <a:latin typeface="Segoe UI"/>
                        </a:rPr>
                        <a:t>Delete an entity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1"/>
                          </a:solidFill>
                          <a:latin typeface="Segoe UI"/>
                        </a:rPr>
                        <a:t>Delete → confirm inline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1"/>
                          </a:solidFill>
                          <a:latin typeface="Segoe UI"/>
                        </a:rPr>
                        <a:t>See visual result</a:t>
                      </a:r>
                    </a:p>
                  </a:txBody>
                  <a:tcPr anchor="ctr" marL="9144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  <a:latin typeface="Segoe UI"/>
                        </a:rPr>
                        <a:t>Save + reload</a:t>
                      </a:r>
                    </a:p>
                  </a:txBody>
                  <a:tcPr anchor="ctr" marL="9144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Segoe UI"/>
                        </a:rPr>
                        <a:t>Instant</a:t>
                      </a:r>
                    </a:p>
                  </a:txBody>
                  <a:tcPr anchor="ctr" marL="9144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1"/>
                          </a:solidFill>
                          <a:latin typeface="Segoe UI"/>
                        </a:rPr>
                        <a:t>Live BRAT preview updates in real time</a:t>
                      </a:r>
                    </a:p>
                  </a:txBody>
                  <a:tcPr anchor="ctr" marL="91440" marR="45720" marT="27432" marB="27432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13232" y="4032504"/>
            <a:ext cx="10765231" cy="685800"/>
          </a:xfrm>
          <a:prstGeom prst="roundRect">
            <a:avLst/>
          </a:prstGeom>
          <a:solidFill>
            <a:srgbClr val="E3F0FC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4105656"/>
            <a:ext cx="10399471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Key insight: The old dialog blocked the PDF context and required a full page reload after every save. The new panel stays inside the sidebar with optimistic saves and live visual feedback.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0"/>
            <a:ext cx="1219169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800" b="0" i="0">
                <a:solidFill>
                  <a:srgbClr val="FFFFFF"/>
                </a:solidFill>
                <a:latin typeface="Segoe UI"/>
              </a:rPr>
              <a:t>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Inline EntityEditPanel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91840"/>
            <a:ext cx="1219169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 i="0">
                <a:solidFill>
                  <a:srgbClr val="BBDEFB"/>
                </a:solidFill>
                <a:latin typeface="Segoe UI"/>
              </a:rPr>
              <a:t>7 new components replacing the monolithic Dialog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5852160"/>
            <a:ext cx="10972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7200" b="1" i="0">
                <a:solidFill>
                  <a:srgbClr val="3A9AE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21208"/>
            <a:ext cx="6400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976D2"/>
                </a:solidFill>
                <a:latin typeface="Segoe UI"/>
              </a:rPr>
              <a:t>New Components Created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910152" y="886968"/>
            <a:ext cx="10568310" cy="36576"/>
          </a:xfrm>
          <a:prstGeom prst="rect">
            <a:avLst/>
          </a:prstGeom>
          <a:solidFill>
            <a:srgbClr val="E3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884103" y="594360"/>
            <a:ext cx="548640" cy="25603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4103" y="594360"/>
            <a:ext cx="54864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 i="0">
                <a:solidFill>
                  <a:srgbClr val="2E7D32"/>
                </a:solidFill>
                <a:latin typeface="Segoe UI"/>
              </a:rPr>
              <a:t>New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115568"/>
          <a:ext cx="553212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46120"/>
              </a:tblGrid>
              <a:tr h="34747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Component</a:t>
                      </a:r>
                    </a:p>
                  </a:txBody>
                  <a:tcPr anchor="ctr" marL="91440" marR="45720" marT="27432" marB="27432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Purpose</a:t>
                      </a:r>
                    </a:p>
                  </a:txBody>
                  <a:tcPr anchor="ctr" marL="91440" marR="45720" marT="27432" marB="27432">
                    <a:solidFill>
                      <a:srgbClr val="1976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1"/>
                          </a:solidFill>
                          <a:latin typeface="Segoe UI"/>
                        </a:rPr>
                        <a:t>EntityEditPanel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1"/>
                          </a:solidFill>
                          <a:latin typeface="Segoe UI"/>
                        </a:rPr>
                        <a:t>Main inline panel (header, body, footer)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1"/>
                          </a:solidFill>
                          <a:latin typeface="Segoe UI"/>
                        </a:rPr>
                        <a:t>EntityTypeChipGrid</a:t>
                      </a:r>
                    </a:p>
                  </a:txBody>
                  <a:tcPr anchor="ctr" marL="9144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1"/>
                          </a:solidFill>
                          <a:latin typeface="Segoe UI"/>
                        </a:rPr>
                        <a:t>Colored chip grid for 1-click type selection</a:t>
                      </a:r>
                    </a:p>
                  </a:txBody>
                  <a:tcPr anchor="ctr" marL="91440" marR="45720" marT="27432" marB="27432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1"/>
                          </a:solidFill>
                          <a:latin typeface="Segoe UI"/>
                        </a:rPr>
                        <a:t>RelationCard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1"/>
                          </a:solidFill>
                          <a:latin typeface="Segoe UI"/>
                        </a:rPr>
                        <a:t>Relation display with inline type edit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1"/>
                          </a:solidFill>
                          <a:latin typeface="Segoe UI"/>
                        </a:rPr>
                        <a:t>AddRelationRow</a:t>
                      </a:r>
                    </a:p>
                  </a:txBody>
                  <a:tcPr anchor="ctr" marL="9144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1"/>
                          </a:solidFill>
                          <a:latin typeface="Segoe UI"/>
                        </a:rPr>
                        <a:t>Constraint-aware add-relation form</a:t>
                      </a:r>
                    </a:p>
                  </a:txBody>
                  <a:tcPr anchor="ctr" marL="91440" marR="45720" marT="27432" marB="27432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1"/>
                          </a:solidFill>
                          <a:latin typeface="Segoe UI"/>
                        </a:rPr>
                        <a:t>SpanAdjustEditor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1"/>
                          </a:solidFill>
                          <a:latin typeface="Segoe UI"/>
                        </a:rPr>
                        <a:t>Collapsible span adjustment with preview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1"/>
                          </a:solidFill>
                          <a:latin typeface="Segoe UI"/>
                        </a:rPr>
                        <a:t>ParagraphBratPreview</a:t>
                      </a:r>
                    </a:p>
                  </a:txBody>
                  <a:tcPr anchor="ctr" marL="9144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1"/>
                          </a:solidFill>
                          <a:latin typeface="Segoe UI"/>
                        </a:rPr>
                        <a:t>Live BRAT visualization preview</a:t>
                      </a:r>
                    </a:p>
                  </a:txBody>
                  <a:tcPr anchor="ctr" marL="91440" marR="45720" marT="27432" marB="27432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4315968"/>
          <a:ext cx="5532120" cy="694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46120"/>
              </a:tblGrid>
              <a:tr h="34747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Utility</a:t>
                      </a:r>
                    </a:p>
                  </a:txBody>
                  <a:tcPr anchor="ctr" marL="91440" marR="45720" marT="27432" marB="27432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Purpose</a:t>
                      </a:r>
                    </a:p>
                  </a:txBody>
                  <a:tcPr anchor="ctr" marL="91440" marR="45720" marT="27432" marB="27432">
                    <a:solidFill>
                      <a:srgbClr val="1976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1"/>
                          </a:solidFill>
                          <a:latin typeface="Segoe UI"/>
                        </a:rPr>
                        <a:t>settingsHelpers.ts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1"/>
                          </a:solidFill>
                          <a:latin typeface="Segoe UI"/>
                        </a:rPr>
                        <a:t>Types, constraint helpers, contrast colors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21043" y="1069848"/>
            <a:ext cx="523173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1976D2"/>
                </a:solidFill>
                <a:latin typeface="Segoe UI"/>
              </a:rPr>
              <a:t>Panel Layout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21043" y="1435608"/>
            <a:ext cx="4957419" cy="42976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3923" y="1572768"/>
            <a:ext cx="4774539" cy="3931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DD6F4"/>
                </a:solidFill>
                <a:latin typeface="Consolas"/>
              </a:rPr>
              <a:t>POLYMER_FAMILY  "Sulfonated poly..."   X
──────────────────────────────────
▼ PARAGRAPH CONTEXT     [Related]
  ┌ BRAT graph (live updating) ┐
  └───────────────────────────┘
  ▕▕▕ drag to resize
──────────────────────────────────
ENTITY TYPE
  [VALUE] [✓ POLYMER] [PROP_NAME] ...
──────────────────────────────────
RELATIONS (1)                +
  POLYMER – has_property → PROP_NAME
──────────────────────────────────
  [DELETE]          [CANCEL] [SAVE]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0"/>
            <a:ext cx="1219169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800" b="0" i="0">
                <a:solidFill>
                  <a:srgbClr val="FFFFFF"/>
                </a:solidFill>
                <a:latin typeface="Segoe UI"/>
              </a:rPr>
              <a:t>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Live BRAT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91840"/>
            <a:ext cx="1219169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 i="0">
                <a:solidFill>
                  <a:srgbClr val="BBDEFB"/>
                </a:solidFill>
                <a:latin typeface="Segoe UI"/>
              </a:rPr>
              <a:t>See how edits look before saving — no more blind editing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5852160"/>
            <a:ext cx="10972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7200" b="1" i="0">
                <a:solidFill>
                  <a:srgbClr val="3A9AE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21208"/>
            <a:ext cx="6400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976D2"/>
                </a:solidFill>
                <a:latin typeface="Segoe UI"/>
              </a:rPr>
              <a:t>ParagraphBratPreview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04719" y="886968"/>
            <a:ext cx="10573743" cy="36576"/>
          </a:xfrm>
          <a:prstGeom prst="rect">
            <a:avLst/>
          </a:prstGeom>
          <a:solidFill>
            <a:srgbClr val="E3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884103" y="594360"/>
            <a:ext cx="548640" cy="25603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4103" y="594360"/>
            <a:ext cx="54864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 i="0">
                <a:solidFill>
                  <a:srgbClr val="2E7D32"/>
                </a:solidFill>
                <a:latin typeface="Segoe UI"/>
              </a:rPr>
              <a:t>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115568"/>
            <a:ext cx="523173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1976D2"/>
                </a:solidFill>
                <a:latin typeface="Segoe UI"/>
              </a:rPr>
              <a:t>Live Update Mechanics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481328"/>
          <a:ext cx="580644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24612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User Action</a:t>
                      </a:r>
                    </a:p>
                  </a:txBody>
                  <a:tcPr anchor="ctr" marL="91440" marR="45720" marT="27432" marB="27432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BRAT Response</a:t>
                      </a:r>
                    </a:p>
                  </a:txBody>
                  <a:tcPr anchor="ctr" marL="91440" marR="45720" marT="27432" marB="27432">
                    <a:solidFill>
                      <a:srgbClr val="1976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1"/>
                          </a:solidFill>
                          <a:latin typeface="Segoe UI"/>
                        </a:rPr>
                        <a:t>Click entity type chip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1"/>
                          </a:solidFill>
                          <a:latin typeface="Segoe UI"/>
                        </a:rPr>
                        <a:t>Entity colour changes instantly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1"/>
                          </a:solidFill>
                          <a:latin typeface="Segoe UI"/>
                        </a:rPr>
                        <a:t>Add/delete relation</a:t>
                      </a:r>
                    </a:p>
                  </a:txBody>
                  <a:tcPr anchor="ctr" marL="9144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1"/>
                          </a:solidFill>
                          <a:latin typeface="Segoe UI"/>
                        </a:rPr>
                        <a:t>Relation arrow appears/disappears</a:t>
                      </a:r>
                    </a:p>
                  </a:txBody>
                  <a:tcPr anchor="ctr" marL="91440" marR="45720" marT="27432" marB="27432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1"/>
                          </a:solidFill>
                          <a:latin typeface="Segoe UI"/>
                        </a:rPr>
                        <a:t>Change relation type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1"/>
                          </a:solidFill>
                          <a:latin typeface="Segoe UI"/>
                        </a:rPr>
                        <a:t>Arrow label updates (new in this fix)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1"/>
                          </a:solidFill>
                          <a:latin typeface="Segoe UI"/>
                        </a:rPr>
                        <a:t>Adjust span numbers</a:t>
                      </a:r>
                    </a:p>
                  </a:txBody>
                  <a:tcPr anchor="ctr" marL="9144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1"/>
                          </a:solidFill>
                          <a:latin typeface="Segoe UI"/>
                        </a:rPr>
                        <a:t>Entity extent updates (300ms debounce)</a:t>
                      </a:r>
                    </a:p>
                  </a:txBody>
                  <a:tcPr anchor="ctr" marL="91440" marR="45720" marT="27432" marB="27432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1"/>
                          </a:solidFill>
                          <a:latin typeface="Segoe UI"/>
                        </a:rPr>
                        <a:t>Type user note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1"/>
                          </a:solidFill>
                          <a:latin typeface="Segoe UI"/>
                        </a:rPr>
                        <a:t>No change (memoized, no spurious re-render)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13232" y="4041648"/>
            <a:ext cx="5506059" cy="914400"/>
          </a:xfrm>
          <a:prstGeom prst="roundRect">
            <a:avLst/>
          </a:prstGeom>
          <a:solidFill>
            <a:srgbClr val="E3F0FC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4114800"/>
            <a:ext cx="5277459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How it works: Each change updates a previewKey string. When the key changes, React destroys and recreates BratEmbeddingDefault, which calls window.Util.embed() fresh with the modified entity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1043" y="1115568"/>
            <a:ext cx="523173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1976D2"/>
                </a:solidFill>
                <a:latin typeface="Segoe UI"/>
              </a:rPr>
              <a:t>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1043" y="1481328"/>
            <a:ext cx="504885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</a:pPr>
            <a:r>
              <a:rPr sz="1200" b="1">
                <a:solidFill>
                  <a:srgbClr val="2E7D32"/>
                </a:solidFill>
                <a:latin typeface="Segoe UI"/>
              </a:rPr>
              <a:t>✓  </a:t>
            </a:r>
            <a:r>
              <a:rPr sz="1200">
                <a:solidFill>
                  <a:srgbClr val="212121"/>
                </a:solidFill>
                <a:latin typeface="Segoe UI"/>
              </a:rPr>
              <a:t>Show All / Related Only toggle — filter to just the edited entity and its relation partners</a:t>
            </a:r>
          </a:p>
          <a:p>
            <a:pPr>
              <a:lnSpc>
                <a:spcPts val="1800"/>
              </a:lnSpc>
              <a:spcAft>
                <a:spcPts val="400"/>
              </a:spcAft>
            </a:pPr>
            <a:r>
              <a:rPr sz="1200" b="1">
                <a:solidFill>
                  <a:srgbClr val="2E7D32"/>
                </a:solidFill>
                <a:latin typeface="Segoe UI"/>
              </a:rPr>
              <a:t>✓  </a:t>
            </a:r>
            <a:r>
              <a:rPr sz="1200">
                <a:solidFill>
                  <a:srgbClr val="212121"/>
                </a:solidFill>
                <a:latin typeface="Segoe UI"/>
              </a:rPr>
              <a:t>Drag-to-resize handle (80px–600px) — expand for long paragraphs, shrink for compact view</a:t>
            </a:r>
          </a:p>
          <a:p>
            <a:pPr>
              <a:lnSpc>
                <a:spcPts val="1800"/>
              </a:lnSpc>
              <a:spcAft>
                <a:spcPts val="400"/>
              </a:spcAft>
            </a:pPr>
            <a:r>
              <a:rPr sz="1200" b="1">
                <a:solidFill>
                  <a:srgbClr val="2E7D32"/>
                </a:solidFill>
                <a:latin typeface="Segoe UI"/>
              </a:rPr>
              <a:t>✓  </a:t>
            </a:r>
            <a:r>
              <a:rPr sz="1200">
                <a:solidFill>
                  <a:srgbClr val="212121"/>
                </a:solidFill>
                <a:latin typeface="Segoe UI"/>
              </a:rPr>
              <a:t>Collapsible accordion — fully hide the preview when not needed</a:t>
            </a:r>
          </a:p>
          <a:p>
            <a:pPr>
              <a:lnSpc>
                <a:spcPts val="1800"/>
              </a:lnSpc>
              <a:spcAft>
                <a:spcPts val="400"/>
              </a:spcAft>
            </a:pPr>
            <a:r>
              <a:rPr sz="1200" b="1">
                <a:solidFill>
                  <a:srgbClr val="2E7D32"/>
                </a:solidFill>
                <a:latin typeface="Segoe UI"/>
              </a:rPr>
              <a:t>✓  </a:t>
            </a:r>
            <a:r>
              <a:rPr sz="1200">
                <a:solidFill>
                  <a:srgbClr val="212121"/>
                </a:solidFill>
                <a:latin typeface="Segoe UI"/>
              </a:rPr>
              <a:t>ResizeObserver — remounts BRAT when sidebar width changes, preventing blank previews</a:t>
            </a:r>
          </a:p>
          <a:p>
            <a:pPr>
              <a:lnSpc>
                <a:spcPts val="1800"/>
              </a:lnSpc>
              <a:spcAft>
                <a:spcPts val="400"/>
              </a:spcAft>
            </a:pPr>
            <a:r>
              <a:rPr sz="1200" b="1">
                <a:solidFill>
                  <a:srgbClr val="2E7D32"/>
                </a:solidFill>
                <a:latin typeface="Segoe UI"/>
              </a:rPr>
              <a:t>✓  </a:t>
            </a:r>
            <a:r>
              <a:rPr sz="1200">
                <a:solidFill>
                  <a:srgbClr val="212121"/>
                </a:solidFill>
                <a:latin typeface="Segoe UI"/>
              </a:rPr>
              <a:t>Memoized docData — prevents spurious embed() calls on unrelated parent re-renders</a:t>
            </a:r>
          </a:p>
          <a:p>
            <a:pPr>
              <a:lnSpc>
                <a:spcPts val="1800"/>
              </a:lnSpc>
              <a:spcAft>
                <a:spcPts val="400"/>
              </a:spcAft>
            </a:pPr>
            <a:r>
              <a:rPr sz="1200" b="1">
                <a:solidFill>
                  <a:srgbClr val="2E7D32"/>
                </a:solidFill>
                <a:latin typeface="Segoe UI"/>
              </a:rPr>
              <a:t>✓  </a:t>
            </a:r>
            <a:r>
              <a:rPr sz="1200">
                <a:solidFill>
                  <a:srgbClr val="212121"/>
                </a:solidFill>
                <a:latin typeface="Segoe UI"/>
              </a:rPr>
              <a:t>Full previewKey — captures relation type+target, not just count</a:t>
            </a:r>
          </a:p>
          <a:p>
            <a:pPr>
              <a:lnSpc>
                <a:spcPts val="1800"/>
              </a:lnSpc>
              <a:spcAft>
                <a:spcPts val="400"/>
              </a:spcAft>
            </a:pPr>
            <a:r>
              <a:rPr sz="1200" b="1">
                <a:solidFill>
                  <a:srgbClr val="2E7D32"/>
                </a:solidFill>
                <a:latin typeface="Segoe UI"/>
              </a:rPr>
              <a:t>✓  </a:t>
            </a:r>
            <a:r>
              <a:rPr sz="1200">
                <a:solidFill>
                  <a:srgbClr val="212121"/>
                </a:solidFill>
                <a:latin typeface="Segoe UI"/>
              </a:rPr>
              <a:t>No extra API calls — overrides paragraph data locally in memory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0"/>
            <a:ext cx="1219169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800" b="0" i="0">
                <a:solidFill>
                  <a:srgbClr val="FFFFFF"/>
                </a:solidFill>
                <a:latin typeface="Segoe UI"/>
              </a:rPr>
              <a:t>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Settings-Driven Relations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91840"/>
            <a:ext cx="1219169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 i="0">
                <a:solidFill>
                  <a:srgbClr val="BBDEFB"/>
                </a:solidFill>
                <a:latin typeface="Segoe UI"/>
              </a:rPr>
              <a:t>Constraint-aware validation powered by settings.json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5852160"/>
            <a:ext cx="10972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7200" b="1" i="0">
                <a:solidFill>
                  <a:srgbClr val="3A9AE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21208"/>
            <a:ext cx="6400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976D2"/>
                </a:solidFill>
                <a:latin typeface="Segoe UI"/>
              </a:rPr>
              <a:t>Constraint-Aware Relations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21018" y="886968"/>
            <a:ext cx="10557444" cy="36576"/>
          </a:xfrm>
          <a:prstGeom prst="rect">
            <a:avLst/>
          </a:prstGeom>
          <a:solidFill>
            <a:srgbClr val="E3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884103" y="594360"/>
            <a:ext cx="548640" cy="25603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4103" y="594360"/>
            <a:ext cx="54864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 i="0">
                <a:solidFill>
                  <a:srgbClr val="F57C00"/>
                </a:solidFill>
                <a:latin typeface="Segoe UI"/>
              </a:rPr>
              <a:t>Fixed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115568"/>
            <a:ext cx="523173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F57C00"/>
                </a:solidFill>
                <a:latin typeface="Segoe UI"/>
              </a:rPr>
              <a:t>Before (hard-coded)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35608"/>
            <a:ext cx="4572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1435608"/>
            <a:ext cx="5186019" cy="1371600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481328"/>
            <a:ext cx="48659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200">
                <a:solidFill>
                  <a:srgbClr val="212121"/>
                </a:solidFill>
                <a:latin typeface="Segoe UI"/>
              </a:rPr>
              <a:t>•  6 relation types hard-coded as &lt;MenuItem&gt; strings in Sidebar.tsx:1031–1038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200">
                <a:solidFill>
                  <a:srgbClr val="212121"/>
                </a:solidFill>
                <a:latin typeface="Segoe UI"/>
              </a:rPr>
              <a:t>•  No validation — user could create invalid Arg1/Arg2 type combinations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200">
                <a:solidFill>
                  <a:srgbClr val="212121"/>
                </a:solidFill>
                <a:latin typeface="Segoe UI"/>
              </a:rPr>
              <a:t>•  Out of sync with settings.json schema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200">
                <a:solidFill>
                  <a:srgbClr val="212121"/>
                </a:solidFill>
                <a:latin typeface="Segoe UI"/>
              </a:rPr>
              <a:t>•  Adding a new relation type required code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035808"/>
            <a:ext cx="523173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2E7D32"/>
                </a:solidFill>
                <a:latin typeface="Segoe UI"/>
              </a:rPr>
              <a:t>After (settings-driven)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355848"/>
            <a:ext cx="45720" cy="1371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" y="3355848"/>
            <a:ext cx="5186019" cy="1371600"/>
          </a:xfrm>
          <a:prstGeom prst="rect">
            <a:avLst/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01568"/>
            <a:ext cx="48659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200">
                <a:solidFill>
                  <a:srgbClr val="212121"/>
                </a:solidFill>
                <a:latin typeface="Segoe UI"/>
              </a:rPr>
              <a:t>•  Reads settings.relation_types dynamically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200">
                <a:solidFill>
                  <a:srgbClr val="212121"/>
                </a:solidFill>
                <a:latin typeface="Segoe UI"/>
              </a:rPr>
              <a:t>•  Filters valid relation types per source entity type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200">
                <a:solidFill>
                  <a:srgbClr val="212121"/>
                </a:solidFill>
                <a:latin typeface="Segoe UI"/>
              </a:rPr>
              <a:t>•  Filters valid target entities per relation type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200">
                <a:solidFill>
                  <a:srgbClr val="212121"/>
                </a:solidFill>
                <a:latin typeface="Segoe UI"/>
              </a:rPr>
              <a:t>•  Schema change = config change only, no code edits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6723" y="1115568"/>
            <a:ext cx="523173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1976D2"/>
                </a:solidFill>
                <a:latin typeface="Segoe UI"/>
              </a:rPr>
              <a:t>Helper Functions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46723.5" y="1481328"/>
          <a:ext cx="5486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92608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Function</a:t>
                      </a:r>
                    </a:p>
                  </a:txBody>
                  <a:tcPr anchor="ctr" marL="91440" marR="45720" marT="27432" marB="27432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Role</a:t>
                      </a:r>
                    </a:p>
                  </a:txBody>
                  <a:tcPr anchor="ctr" marL="91440" marR="45720" marT="27432" marB="27432">
                    <a:solidFill>
                      <a:srgbClr val="1976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1"/>
                          </a:solidFill>
                          <a:latin typeface="Segoe UI"/>
                        </a:rPr>
                        <a:t>getRelationTypesForSource()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1"/>
                          </a:solidFill>
                          <a:latin typeface="Segoe UI"/>
                        </a:rPr>
                        <a:t>Given source entity type, returns valid relation types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1"/>
                          </a:solidFill>
                          <a:latin typeface="Segoe UI"/>
                        </a:rPr>
                        <a:t>getValidTargetTypes
ForRelation()</a:t>
                      </a:r>
                    </a:p>
                  </a:txBody>
                  <a:tcPr anchor="ctr" marL="9144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1"/>
                          </a:solidFill>
                          <a:latin typeface="Segoe UI"/>
                        </a:rPr>
                        <a:t>Given relation type, returns valid Arg2 entity types</a:t>
                      </a:r>
                    </a:p>
                  </a:txBody>
                  <a:tcPr anchor="ctr" marL="91440" marR="45720" marT="27432" marB="27432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1"/>
                          </a:solidFill>
                          <a:latin typeface="Segoe UI"/>
                        </a:rPr>
                        <a:t>getContrastColor()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1"/>
                          </a:solidFill>
                          <a:latin typeface="Segoe UI"/>
                        </a:rPr>
                        <a:t>Computes black/white text color from hex background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1"/>
                          </a:solidFill>
                          <a:latin typeface="Segoe UI"/>
                        </a:rPr>
                        <a:t>toRelations()</a:t>
                      </a:r>
                    </a:p>
                  </a:txBody>
                  <a:tcPr anchor="ctr" marL="9144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1"/>
                          </a:solidFill>
                          <a:latin typeface="Segoe UI"/>
                        </a:rPr>
                        <a:t>Safe cast from legacy array to typed Relation[]</a:t>
                      </a:r>
                    </a:p>
                  </a:txBody>
                  <a:tcPr anchor="ctr" marL="91440" marR="45720" marT="27432" marB="27432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246723" y="3858768"/>
            <a:ext cx="5231739" cy="822960"/>
          </a:xfrm>
          <a:prstGeom prst="roundRect">
            <a:avLst/>
          </a:prstGeom>
          <a:solidFill>
            <a:srgbClr val="E3F0FC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3883" y="3931920"/>
            <a:ext cx="4957419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Example: If the source entity is POLYMER, only has_property, has_value, abbreviation_of etc. appear in the relation dropdown. Target entities are filtered to only valid Arg2 types.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21208"/>
            <a:ext cx="6400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976D2"/>
                </a:solidFill>
                <a:latin typeface="Segoe UI"/>
              </a:rPr>
              <a:t>Optimistic Saves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93854" y="886968"/>
            <a:ext cx="10584608" cy="36576"/>
          </a:xfrm>
          <a:prstGeom prst="rect">
            <a:avLst/>
          </a:prstGeom>
          <a:solidFill>
            <a:srgbClr val="E3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884103" y="594360"/>
            <a:ext cx="548640" cy="25603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4103" y="594360"/>
            <a:ext cx="54864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 i="0">
                <a:solidFill>
                  <a:srgbClr val="2E7D32"/>
                </a:solidFill>
                <a:latin typeface="Segoe UI"/>
              </a:rPr>
              <a:t>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115568"/>
            <a:ext cx="523173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F57C00"/>
                </a:solidFill>
                <a:latin typeface="Segoe UI"/>
              </a:rPr>
              <a:t>Before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35608"/>
            <a:ext cx="45720" cy="1188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1435608"/>
            <a:ext cx="5186019" cy="11887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27048"/>
            <a:ext cx="4865979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Every entity or relation save called navigate('/result'), triggering a full page reload. The PDF re-rendered, scroll position was lost, and the user had to find their entity again.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852928"/>
            <a:ext cx="523173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2E7D32"/>
                </a:solidFill>
                <a:latin typeface="Segoe UI"/>
              </a:rPr>
              <a:t>After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172968"/>
            <a:ext cx="45720" cy="1188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" y="3172968"/>
            <a:ext cx="5186019" cy="1188720"/>
          </a:xfrm>
          <a:prstGeom prst="rect">
            <a:avLst/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264408"/>
            <a:ext cx="4865979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Saves are optimistic: local state updates instantly, the panel closes, and the API call runs in the background. On failure, changes revert and a snackbar notification appears.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6723" y="1115568"/>
            <a:ext cx="523173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1976D2"/>
                </a:solidFill>
                <a:latin typeface="Segoe UI"/>
              </a:rPr>
              <a:t>Save Flow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6723" y="1481328"/>
            <a:ext cx="45720" cy="40233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2443" y="1481328"/>
            <a:ext cx="5186019" cy="402336"/>
          </a:xfrm>
          <a:prstGeom prst="rect">
            <a:avLst/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9603" y="1527048"/>
            <a:ext cx="2743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2E7D32"/>
                </a:solidFill>
                <a:latin typeface="Segoe UI"/>
              </a:rPr>
              <a:t>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9643" y="1527048"/>
            <a:ext cx="4591659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User clicks Save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6723" y="1993392"/>
            <a:ext cx="45720" cy="40233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2443" y="1993392"/>
            <a:ext cx="5186019" cy="402336"/>
          </a:xfrm>
          <a:prstGeom prst="rect">
            <a:avLst/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9603" y="2039112"/>
            <a:ext cx="2743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2E7D32"/>
                </a:solidFill>
                <a:latin typeface="Segoe UI"/>
              </a:rPr>
              <a:t>2.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9643" y="2039112"/>
            <a:ext cx="4591659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Local highlights[] updated immediately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6723" y="2505456"/>
            <a:ext cx="45720" cy="40233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92443" y="2505456"/>
            <a:ext cx="5186019" cy="402336"/>
          </a:xfrm>
          <a:prstGeom prst="rect">
            <a:avLst/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9603" y="2551176"/>
            <a:ext cx="2743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2E7D32"/>
                </a:solidFill>
                <a:latin typeface="Segoe UI"/>
              </a:rPr>
              <a:t>3.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9643" y="2551176"/>
            <a:ext cx="4591659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Edit panel closes, entity list shows updated 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6723" y="3017520"/>
            <a:ext cx="45720" cy="40233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92443" y="3017520"/>
            <a:ext cx="5186019" cy="402336"/>
          </a:xfrm>
          <a:prstGeom prst="rect">
            <a:avLst/>
          </a:prstGeom>
          <a:solidFill>
            <a:srgbClr val="E3F0FC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9603" y="3063240"/>
            <a:ext cx="2743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976D2"/>
                </a:solidFill>
                <a:latin typeface="Segoe UI"/>
              </a:rPr>
              <a:t>4.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9643" y="3063240"/>
            <a:ext cx="4591659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API calls fire in background (entity + relations)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46723" y="3529584"/>
            <a:ext cx="45720" cy="40233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92443" y="3529584"/>
            <a:ext cx="5186019" cy="402336"/>
          </a:xfrm>
          <a:prstGeom prst="rect">
            <a:avLst/>
          </a:prstGeom>
          <a:solidFill>
            <a:srgbClr val="E3F0FC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9603" y="3575304"/>
            <a:ext cx="2743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976D2"/>
                </a:solidFill>
                <a:latin typeface="Segoe UI"/>
              </a:rPr>
              <a:t>5.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9643" y="3575304"/>
            <a:ext cx="4591659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Server response syncs bratOutput, updateId, etc.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46723" y="4041648"/>
            <a:ext cx="45720" cy="40233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92443" y="4041648"/>
            <a:ext cx="5186019" cy="402336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9603" y="4087368"/>
            <a:ext cx="2743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F57C00"/>
                </a:solidFill>
                <a:latin typeface="Segoe UI"/>
              </a:rPr>
              <a:t>6.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49643" y="4087368"/>
            <a:ext cx="4591659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On error: revert to originalHighlights + show snackbar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0"/>
            <a:ext cx="1219169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800" b="0" i="0">
                <a:solidFill>
                  <a:srgbClr val="FFFFFF"/>
                </a:solidFill>
                <a:latin typeface="Segoe UI"/>
              </a:rPr>
              <a:t>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Responsive Layout &amp; Overflow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91840"/>
            <a:ext cx="1219169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 i="0">
                <a:solidFill>
                  <a:srgbClr val="BBDEFB"/>
                </a:solidFill>
                <a:latin typeface="Segoe UI"/>
              </a:rPr>
              <a:t>Sidebar resize, scroll management, and adaptive BRAT rendering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5852160"/>
            <a:ext cx="10972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7200" b="1" i="0">
                <a:solidFill>
                  <a:srgbClr val="3A9AE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21208"/>
            <a:ext cx="6400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976D2"/>
                </a:solidFill>
                <a:latin typeface="Segoe UI"/>
              </a:rPr>
              <a:t>Responsive Layout &amp; Overflow Fixes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42749" y="886968"/>
            <a:ext cx="10535713" cy="36576"/>
          </a:xfrm>
          <a:prstGeom prst="rect">
            <a:avLst/>
          </a:prstGeom>
          <a:solidFill>
            <a:srgbClr val="E3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884103" y="594360"/>
            <a:ext cx="548640" cy="25603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4103" y="594360"/>
            <a:ext cx="54864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 i="0">
                <a:solidFill>
                  <a:srgbClr val="F57C00"/>
                </a:solidFill>
                <a:latin typeface="Segoe UI"/>
              </a:rPr>
              <a:t>Fixed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115568"/>
            <a:ext cx="523173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1976D2"/>
                </a:solidFill>
                <a:latin typeface="Segoe UI"/>
              </a:rPr>
              <a:t>Sidebar Resize Handling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35608"/>
            <a:ext cx="4572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1435608"/>
            <a:ext cx="5186019" cy="1371600"/>
          </a:xfrm>
          <a:prstGeom prst="rect">
            <a:avLst/>
          </a:prstGeom>
          <a:solidFill>
            <a:srgbClr val="E3F0FC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499616"/>
            <a:ext cx="48659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200">
                <a:solidFill>
                  <a:srgbClr val="212121"/>
                </a:solidFill>
                <a:latin typeface="Segoe UI"/>
              </a:rPr>
              <a:t>•  Sidebar max width increased from 500px → 700px for wider BRAT previews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200">
                <a:solidFill>
                  <a:srgbClr val="212121"/>
                </a:solidFill>
                <a:latin typeface="Segoe UI"/>
              </a:rPr>
              <a:t>•  ResizeObserver tracks container width with &gt;10px change threshold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200">
                <a:solidFill>
                  <a:srgbClr val="212121"/>
                </a:solidFill>
                <a:latin typeface="Segoe UI"/>
              </a:rPr>
              <a:t>•  Debounced 300ms to prevent rapid BRAT remounts during drag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200">
                <a:solidFill>
                  <a:srgbClr val="212121"/>
                </a:solidFill>
                <a:latin typeface="Segoe UI"/>
              </a:rPr>
              <a:t>•  First measurement recorded silently (no spurious initial remount)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035808"/>
            <a:ext cx="523173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1976D2"/>
                </a:solidFill>
                <a:latin typeface="Segoe UI"/>
              </a:rPr>
              <a:t>Overflow Management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355848"/>
            <a:ext cx="45720" cy="1508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" y="3355848"/>
            <a:ext cx="5186019" cy="1508760"/>
          </a:xfrm>
          <a:prstGeom prst="rect">
            <a:avLst/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19856"/>
            <a:ext cx="48659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200">
                <a:solidFill>
                  <a:srgbClr val="212121"/>
                </a:solidFill>
                <a:latin typeface="Segoe UI"/>
              </a:rPr>
              <a:t>•  Explicit overflowX: hidden on EntityEditPanel scrollable body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200">
                <a:solidFill>
                  <a:srgbClr val="212121"/>
                </a:solidFill>
                <a:latin typeface="Segoe UI"/>
              </a:rPr>
              <a:t>•  Sidebar overflow toggles to hidden when edit panel is visible (prevents double scrollbar)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200">
                <a:solidFill>
                  <a:srgbClr val="212121"/>
                </a:solidFill>
                <a:latin typeface="Segoe UI"/>
              </a:rPr>
              <a:t>•  CSS fix: overflow-y: auto without overflow-x promotes it to auto per spec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200">
                <a:solidFill>
                  <a:srgbClr val="212121"/>
                </a:solidFill>
                <a:latin typeface="Segoe UI"/>
              </a:rPr>
              <a:t>•  Scrollbar width reduced from 10px to 6px for less visual noise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6723" y="1115568"/>
            <a:ext cx="523173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1976D2"/>
                </a:solidFill>
                <a:latin typeface="Segoe UI"/>
              </a:rPr>
              <a:t>Drag-to-Resize BRAT Preview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6723" y="1435608"/>
            <a:ext cx="45720" cy="13716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2443" y="1435608"/>
            <a:ext cx="5186019" cy="1371600"/>
          </a:xfrm>
          <a:prstGeom prst="rect">
            <a:avLst/>
          </a:prstGeom>
          <a:solidFill>
            <a:srgbClr val="F3E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9603" y="1499616"/>
            <a:ext cx="48659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200">
                <a:solidFill>
                  <a:srgbClr val="212121"/>
                </a:solidFill>
                <a:latin typeface="Segoe UI"/>
              </a:rPr>
              <a:t>•  Mouse drag handle at bottom of BRAT preview panel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200">
                <a:solidFill>
                  <a:srgbClr val="212121"/>
                </a:solidFill>
                <a:latin typeface="Segoe UI"/>
              </a:rPr>
              <a:t>•  Height range: 80px (min) to 600px (max), default 180px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200">
                <a:solidFill>
                  <a:srgbClr val="212121"/>
                </a:solidFill>
                <a:latin typeface="Segoe UI"/>
              </a:rPr>
              <a:t>•  Visual grip indicator with hover/active state transitions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200">
                <a:solidFill>
                  <a:srgbClr val="212121"/>
                </a:solidFill>
                <a:latin typeface="Segoe UI"/>
              </a:rPr>
              <a:t>•  Text selection disabled during drag to prevent interference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6723" y="3035808"/>
            <a:ext cx="523173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1976D2"/>
                </a:solidFill>
                <a:latin typeface="Segoe UI"/>
              </a:rPr>
              <a:t>CSS Responsive Breakpoints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246723.5" y="3355848"/>
          <a:ext cx="54864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Breakpoint</a:t>
                      </a:r>
                    </a:p>
                  </a:txBody>
                  <a:tcPr anchor="ctr" marL="91440" marR="45720" marT="27432" marB="27432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Changes</a:t>
                      </a:r>
                    </a:p>
                  </a:txBody>
                  <a:tcPr anchor="ctr" marL="91440" marR="45720" marT="27432" marB="27432">
                    <a:solidFill>
                      <a:srgbClr val="1976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1"/>
                          </a:solidFill>
                          <a:latin typeface="Segoe UI"/>
                        </a:rPr>
                        <a:t>≤ 1200px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1"/>
                          </a:solidFill>
                          <a:latin typeface="Segoe UI"/>
                        </a:rPr>
                        <a:t>Smaller entity badges (12px), tighter highlight padding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1"/>
                          </a:solidFill>
                          <a:latin typeface="Segoe UI"/>
                        </a:rPr>
                        <a:t>≤ 900px</a:t>
                      </a:r>
                    </a:p>
                  </a:txBody>
                  <a:tcPr anchor="ctr" marL="9144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1"/>
                          </a:solidFill>
                          <a:latin typeface="Segoe UI"/>
                        </a:rPr>
                        <a:t>Further reduced padding and margins for compact view</a:t>
                      </a:r>
                    </a:p>
                  </a:txBody>
                  <a:tcPr anchor="ctr" marL="91440" marR="45720" marT="27432" marB="27432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1"/>
                          </a:solidFill>
                          <a:latin typeface="Segoe UI"/>
                        </a:rPr>
                        <a:t>Any width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1"/>
                          </a:solidFill>
                          <a:latin typeface="Segoe UI"/>
                        </a:rPr>
                        <a:t>BRAT SVG re-renders on sidebar drag via ResizeObserver</a:t>
                      </a:r>
                    </a:p>
                  </a:txBody>
                  <a:tcPr anchor="ctr" marL="9144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0"/>
            <a:ext cx="1219169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800" b="0" i="0">
                <a:solidFill>
                  <a:srgbClr val="FFFFFF"/>
                </a:solidFill>
                <a:latin typeface="Segoe UI"/>
              </a:rPr>
              <a:t>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BRAT Rendering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91840"/>
            <a:ext cx="1219169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 i="0">
                <a:solidFill>
                  <a:srgbClr val="BBDEFB"/>
                </a:solidFill>
                <a:latin typeface="Segoe UI"/>
              </a:rPr>
              <a:t>Preventing content disappearance during editing, resizing, and relation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5852160"/>
            <a:ext cx="10972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7200" b="1" i="0">
                <a:solidFill>
                  <a:srgbClr val="3A9AE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21208"/>
            <a:ext cx="6400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976D2"/>
                </a:solidFill>
                <a:latin typeface="Segoe UI"/>
              </a:rPr>
              <a:t>BRAT Rendering Reliability Fixes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37316" y="886968"/>
            <a:ext cx="10541146" cy="36576"/>
          </a:xfrm>
          <a:prstGeom prst="rect">
            <a:avLst/>
          </a:prstGeom>
          <a:solidFill>
            <a:srgbClr val="E3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884103" y="594360"/>
            <a:ext cx="548640" cy="25603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4103" y="594360"/>
            <a:ext cx="54864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 i="0">
                <a:solidFill>
                  <a:srgbClr val="F57C00"/>
                </a:solidFill>
                <a:latin typeface="Segoe UI"/>
              </a:rPr>
              <a:t>Fixed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115568"/>
            <a:ext cx="550605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F57C00"/>
                </a:solidFill>
                <a:latin typeface="Segoe UI"/>
              </a:rPr>
              <a:t>Bug 1: Incomplete previewKey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35608"/>
            <a:ext cx="45720" cy="146304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1435608"/>
            <a:ext cx="5460339" cy="1463040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27048"/>
            <a:ext cx="514029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Problem: previewKey only included currentRelations.length. Changing a relation's type or target (without changing count) did not trigger BRAT remount.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" y="2075688"/>
            <a:ext cx="5231739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121408"/>
            <a:ext cx="495741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Fix: previewKey now uses relations.map(r =&gt; type:arg_id).join(',') — any change to type or target produces a new key.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127248"/>
            <a:ext cx="550605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F57C00"/>
                </a:solidFill>
                <a:latin typeface="Segoe UI"/>
              </a:rPr>
              <a:t>Bug 2: New docData reference on every render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3447288"/>
            <a:ext cx="45720" cy="1828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" y="3447288"/>
            <a:ext cx="5460339" cy="1828800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538728"/>
            <a:ext cx="5140299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Problem: docData was constructed inline (new object every render). BratEmbeddingDefault's useEffect([docData]) compares by reference, so it fired window.Util.embed() on EVERY parent re-render (typing notes, toggling UI, saving). This caused BRAT to flicker or fail silently.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" y="4407408"/>
            <a:ext cx="5231739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453128"/>
            <a:ext cx="495741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Fix: Wrapped all computation in useMemo keyed on previewKey + paragraphData. docData reference only changes when actual content changes.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1043" y="1115568"/>
            <a:ext cx="523173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1976D2"/>
                </a:solidFill>
                <a:latin typeface="Segoe UI"/>
              </a:rPr>
              <a:t>Other Rendering Fixes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21043" y="1481328"/>
            <a:ext cx="4957419" cy="868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3923" y="1554480"/>
            <a:ext cx="4683099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57C00"/>
                </a:solidFill>
                <a:latin typeface="Segoe UI"/>
              </a:rPr>
              <a:t>BRAT disappears on sidebar resize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3923" y="1865376"/>
            <a:ext cx="4683099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E7D32"/>
                </a:solidFill>
                <a:latin typeface="Segoe UI"/>
              </a:rPr>
              <a:t>✓ ResizeObserver with debounced remount, &gt;10px threshold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21043" y="2532888"/>
            <a:ext cx="4957419" cy="868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03923" y="2606040"/>
            <a:ext cx="4683099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57C00"/>
                </a:solidFill>
                <a:latin typeface="Segoe UI"/>
              </a:rPr>
              <a:t>BRAT renders then vanishes instantly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3923" y="2916936"/>
            <a:ext cx="4683099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E7D32"/>
                </a:solidFill>
                <a:latin typeface="Segoe UI"/>
              </a:rPr>
              <a:t>✓ Skip first width measurement (0→actual was spurious remount)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21043" y="3584448"/>
            <a:ext cx="4957419" cy="868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3923" y="3657600"/>
            <a:ext cx="4683099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57C00"/>
                </a:solidFill>
                <a:latin typeface="Segoe UI"/>
              </a:rPr>
              <a:t>Double scrollbar conflicts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3923" y="3968496"/>
            <a:ext cx="4683099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E7D32"/>
                </a:solidFill>
                <a:latin typeface="Segoe UI"/>
              </a:rPr>
              <a:t>✓ Sidebar overflow toggles to hidden when edit panel is open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21043" y="4636007"/>
            <a:ext cx="4957419" cy="868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03923" y="4709159"/>
            <a:ext cx="4683099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57C00"/>
                </a:solidFill>
                <a:latin typeface="Segoe UI"/>
              </a:rPr>
              <a:t>Horizontal scrollbar from BRAT SVG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03923" y="5020055"/>
            <a:ext cx="4683099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E7D32"/>
                </a:solidFill>
                <a:latin typeface="Segoe UI"/>
              </a:rPr>
              <a:t>✓ Explicit overflowX: hidden on scrollable containers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0"/>
            <a:ext cx="1219169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800" b="0" i="0">
                <a:solidFill>
                  <a:srgbClr val="FFFFFF"/>
                </a:solidFill>
                <a:latin typeface="Segoe UI"/>
              </a:rPr>
              <a:t>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Bug Fixes &amp; Polish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91840"/>
            <a:ext cx="1219169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 i="0">
                <a:solidFill>
                  <a:srgbClr val="BBDEFB"/>
                </a:solidFill>
                <a:latin typeface="Segoe UI"/>
              </a:rPr>
              <a:t>8 issues discovered and resolved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5852160"/>
            <a:ext cx="10972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7200" b="1" i="0">
                <a:solidFill>
                  <a:srgbClr val="3A9AE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21208"/>
            <a:ext cx="6400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976D2"/>
                </a:solidFill>
                <a:latin typeface="Segoe UI"/>
              </a:rPr>
              <a:t>All Bugs Fixed</a:t>
            </a:r>
          </a:p>
        </p:txBody>
      </p:sp>
      <p:sp>
        <p:nvSpPr>
          <p:cNvPr id="3" name="Rectangle 2"/>
          <p:cNvSpPr/>
          <p:nvPr/>
        </p:nvSpPr>
        <p:spPr>
          <a:xfrm>
            <a:off x="888421" y="886968"/>
            <a:ext cx="10590041" cy="36576"/>
          </a:xfrm>
          <a:prstGeom prst="rect">
            <a:avLst/>
          </a:prstGeom>
          <a:solidFill>
            <a:srgbClr val="E3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884103" y="594360"/>
            <a:ext cx="548640" cy="25603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4103" y="594360"/>
            <a:ext cx="54864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 i="0">
                <a:solidFill>
                  <a:srgbClr val="F57C00"/>
                </a:solidFill>
                <a:latin typeface="Segoe UI"/>
              </a:rPr>
              <a:t>Fixed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115568"/>
            <a:ext cx="45720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" y="1115568"/>
            <a:ext cx="10719511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161288"/>
            <a:ext cx="3474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57C00"/>
                </a:solidFill>
                <a:latin typeface="Segoe UI"/>
              </a:rPr>
              <a:t>Hard-coded relation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1161288"/>
            <a:ext cx="6650431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Replaced 6 hard-coded &lt;MenuItem&gt; strings with dynamic reads from settings.relation_types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709928"/>
            <a:ext cx="45720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" y="1709928"/>
            <a:ext cx="10719511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1755648"/>
            <a:ext cx="3474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57C00"/>
                </a:solidFill>
                <a:latin typeface="Segoe UI"/>
              </a:rPr>
              <a:t>BRAT preview disappearing on resize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755648"/>
            <a:ext cx="6650431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Added ResizeObserver with debounced remount; only triggers when width changes &gt;10px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304288"/>
            <a:ext cx="45720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" y="2304288"/>
            <a:ext cx="10719511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350008"/>
            <a:ext cx="3474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57C00"/>
                </a:solidFill>
                <a:latin typeface="Segoe UI"/>
              </a:rPr>
              <a:t>BRAT renders then vanishes instantly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350008"/>
            <a:ext cx="6650431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Initial debouncedWidth change (0→actual) was spurious remount; fixed by skipping first measurement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2898648"/>
            <a:ext cx="45720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" y="2898648"/>
            <a:ext cx="10719511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2944368"/>
            <a:ext cx="3474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57C00"/>
                </a:solidFill>
                <a:latin typeface="Segoe UI"/>
              </a:rPr>
              <a:t>Persistent horizontal scrollbar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2944368"/>
            <a:ext cx="6650431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Added explicit overflowX: hidden; CSS overflow-y: auto without overflow-x promotes to auto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493008"/>
            <a:ext cx="45720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952" y="3493008"/>
            <a:ext cx="10719511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3538728"/>
            <a:ext cx="3474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57C00"/>
                </a:solidFill>
                <a:latin typeface="Segoe UI"/>
              </a:rPr>
              <a:t>Double scrollbar when editing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3538728"/>
            <a:ext cx="6650431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Sidebar overflow toggles to hidden when EntityEditPanel is visible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087368"/>
            <a:ext cx="45720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8952" y="4087368"/>
            <a:ext cx="10719511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" y="4133088"/>
            <a:ext cx="3474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57C00"/>
                </a:solidFill>
                <a:latin typeface="Segoe UI"/>
              </a:rPr>
              <a:t>Sidebar too narrow for BRAT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4133088"/>
            <a:ext cx="6650431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Increased max resizable width from 500px to 700px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4681728"/>
            <a:ext cx="45720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" y="4681728"/>
            <a:ext cx="10719511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" y="4727448"/>
            <a:ext cx="3474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57C00"/>
                </a:solidFill>
                <a:latin typeface="Segoe UI"/>
              </a:rPr>
              <a:t>Incomplete previewKey for relations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4727448"/>
            <a:ext cx="6650431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Key now includes full relation type+target, not just count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" y="5276088"/>
            <a:ext cx="45720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8952" y="5276088"/>
            <a:ext cx="10719511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" y="5321808"/>
            <a:ext cx="3474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57C00"/>
                </a:solidFill>
                <a:latin typeface="Segoe UI"/>
              </a:rPr>
              <a:t>Spurious BRAT re-renders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5321808"/>
            <a:ext cx="6650431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Memoized docData with useMemo; reference only changes when content changes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21208"/>
            <a:ext cx="6400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976D2"/>
                </a:solidFill>
                <a:latin typeface="Segoe UI"/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869406" y="886968"/>
            <a:ext cx="10609056" cy="36576"/>
          </a:xfrm>
          <a:prstGeom prst="rect">
            <a:avLst/>
          </a:prstGeom>
          <a:solidFill>
            <a:srgbClr val="E3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1115568"/>
            <a:ext cx="320040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07008"/>
            <a:ext cx="3200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 i="0">
                <a:solidFill>
                  <a:srgbClr val="1976D2"/>
                </a:solidFill>
                <a:latin typeface="Segoe U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55648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888888"/>
                </a:solidFill>
                <a:latin typeface="Segoe UI"/>
              </a:rPr>
              <a:t>New components
created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115568"/>
            <a:ext cx="320040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70832" y="1207008"/>
            <a:ext cx="3200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 i="0">
                <a:solidFill>
                  <a:srgbClr val="1976D2"/>
                </a:solidFill>
                <a:latin typeface="Segoe U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0832" y="1755648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888888"/>
                </a:solidFill>
                <a:latin typeface="Segoe UI"/>
              </a:rPr>
              <a:t>Bugs
fixed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1115568"/>
            <a:ext cx="320040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28432" y="1207008"/>
            <a:ext cx="3200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 i="0">
                <a:solidFill>
                  <a:srgbClr val="1976D2"/>
                </a:solidFill>
                <a:latin typeface="Segoe U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2" y="1755648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888888"/>
                </a:solidFill>
                <a:latin typeface="Segoe UI"/>
              </a:rPr>
              <a:t>Page reloads
on save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578608"/>
            <a:ext cx="523173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1976D2"/>
                </a:solidFill>
                <a:latin typeface="Segoe UI"/>
              </a:rPr>
              <a:t>New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898648"/>
            <a:ext cx="52317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200" b="1">
                <a:solidFill>
                  <a:srgbClr val="2E7D32"/>
                </a:solidFill>
                <a:latin typeface="Segoe UI"/>
              </a:rPr>
              <a:t>✓  </a:t>
            </a:r>
            <a:r>
              <a:rPr sz="1200">
                <a:solidFill>
                  <a:srgbClr val="212121"/>
                </a:solidFill>
                <a:latin typeface="Segoe UI"/>
              </a:rPr>
              <a:t>EntityEditPanel.tsx — inline editing panel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200" b="1">
                <a:solidFill>
                  <a:srgbClr val="2E7D32"/>
                </a:solidFill>
                <a:latin typeface="Segoe UI"/>
              </a:rPr>
              <a:t>✓  </a:t>
            </a:r>
            <a:r>
              <a:rPr sz="1200">
                <a:solidFill>
                  <a:srgbClr val="212121"/>
                </a:solidFill>
                <a:latin typeface="Segoe UI"/>
              </a:rPr>
              <a:t>EntityTypeChipGrid.tsx — colored type chips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200" b="1">
                <a:solidFill>
                  <a:srgbClr val="2E7D32"/>
                </a:solidFill>
                <a:latin typeface="Segoe UI"/>
              </a:rPr>
              <a:t>✓  </a:t>
            </a:r>
            <a:r>
              <a:rPr sz="1200">
                <a:solidFill>
                  <a:srgbClr val="212121"/>
                </a:solidFill>
                <a:latin typeface="Segoe UI"/>
              </a:rPr>
              <a:t>RelationCard.tsx — relation display + edit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200" b="1">
                <a:solidFill>
                  <a:srgbClr val="2E7D32"/>
                </a:solidFill>
                <a:latin typeface="Segoe UI"/>
              </a:rPr>
              <a:t>✓  </a:t>
            </a:r>
            <a:r>
              <a:rPr sz="1200">
                <a:solidFill>
                  <a:srgbClr val="212121"/>
                </a:solidFill>
                <a:latin typeface="Segoe UI"/>
              </a:rPr>
              <a:t>AddRelationRow.tsx — constraint-aware add form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200" b="1">
                <a:solidFill>
                  <a:srgbClr val="2E7D32"/>
                </a:solidFill>
                <a:latin typeface="Segoe UI"/>
              </a:rPr>
              <a:t>✓  </a:t>
            </a:r>
            <a:r>
              <a:rPr sz="1200">
                <a:solidFill>
                  <a:srgbClr val="212121"/>
                </a:solidFill>
                <a:latin typeface="Segoe UI"/>
              </a:rPr>
              <a:t>SpanAdjustEditor.tsx — span adjustment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200" b="1">
                <a:solidFill>
                  <a:srgbClr val="2E7D32"/>
                </a:solidFill>
                <a:latin typeface="Segoe UI"/>
              </a:rPr>
              <a:t>✓  </a:t>
            </a:r>
            <a:r>
              <a:rPr sz="1200">
                <a:solidFill>
                  <a:srgbClr val="212121"/>
                </a:solidFill>
                <a:latin typeface="Segoe UI"/>
              </a:rPr>
              <a:t>ParagraphBratPreview.tsx — live BRAT preview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200" b="1">
                <a:solidFill>
                  <a:srgbClr val="2E7D32"/>
                </a:solidFill>
                <a:latin typeface="Segoe UI"/>
              </a:rPr>
              <a:t>✓  </a:t>
            </a:r>
            <a:r>
              <a:rPr sz="1200">
                <a:solidFill>
                  <a:srgbClr val="212121"/>
                </a:solidFill>
                <a:latin typeface="Segoe UI"/>
              </a:rPr>
              <a:t>settingsHelpers.ts — types and utilities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6723" y="2578608"/>
            <a:ext cx="523173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1976D2"/>
                </a:solidFill>
                <a:latin typeface="Segoe UI"/>
              </a:rPr>
              <a:t>Modified 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6723" y="2898648"/>
            <a:ext cx="52317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200" b="1">
                <a:solidFill>
                  <a:srgbClr val="2E7D32"/>
                </a:solidFill>
                <a:latin typeface="Segoe UI"/>
              </a:rPr>
              <a:t>✓  </a:t>
            </a:r>
            <a:r>
              <a:rPr sz="1200">
                <a:solidFill>
                  <a:srgbClr val="212121"/>
                </a:solidFill>
                <a:latin typeface="Segoe UI"/>
              </a:rPr>
              <a:t>Sidebar.tsx — replaced Dialog with inline panel, optimistic saves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200" b="1">
                <a:solidFill>
                  <a:srgbClr val="2E7D32"/>
                </a:solidFill>
                <a:latin typeface="Segoe UI"/>
              </a:rPr>
              <a:t>✓  </a:t>
            </a:r>
            <a:r>
              <a:rPr sz="1200">
                <a:solidFill>
                  <a:srgbClr val="212121"/>
                </a:solidFill>
                <a:latin typeface="Segoe UI"/>
              </a:rPr>
              <a:t>ResultComponent.tsx — sidebar max width 500→700px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200" b="1">
                <a:solidFill>
                  <a:srgbClr val="2E7D32"/>
                </a:solidFill>
                <a:latin typeface="Segoe UI"/>
              </a:rPr>
              <a:t>✓  </a:t>
            </a:r>
            <a:r>
              <a:rPr sz="1200">
                <a:solidFill>
                  <a:srgbClr val="212121"/>
                </a:solidFill>
                <a:latin typeface="Segoe UI"/>
              </a:rPr>
              <a:t>Sidebar.css — entity card styling, scroll fixes, responsive breakpoints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200" b="1">
                <a:solidFill>
                  <a:srgbClr val="2E7D32"/>
                </a:solidFill>
                <a:latin typeface="Segoe UI"/>
              </a:rPr>
              <a:t>✓  </a:t>
            </a:r>
            <a:r>
              <a:rPr sz="1200">
                <a:solidFill>
                  <a:srgbClr val="212121"/>
                </a:solidFill>
                <a:latin typeface="Segoe UI"/>
              </a:rPr>
              <a:t>ParagraphBratPreview.tsx — useMemo + full previewKey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6723" y="4407408"/>
            <a:ext cx="523173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1976D2"/>
                </a:solidFill>
                <a:latin typeface="Segoe UI"/>
              </a:rPr>
              <a:t>Key Principle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6723" y="4727448"/>
            <a:ext cx="5231739" cy="777240"/>
          </a:xfrm>
          <a:prstGeom prst="roundRect">
            <a:avLst/>
          </a:prstGeom>
          <a:solidFill>
            <a:srgbClr val="E3F0FC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3883" y="4800600"/>
            <a:ext cx="495741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Zero changes to BratEmbedding.tsx, BratEmbeddingDefault.tsx, or ResultComponent layout. All new functionality is additive.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09728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BBDEFB"/>
                </a:solidFill>
                <a:latin typeface="Segoe UI"/>
              </a:rPr>
              <a:t>POLYMINDER V3.3  ·  MARCH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194560"/>
            <a:ext cx="7315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9184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>
                <a:solidFill>
                  <a:srgbClr val="BBDEFB"/>
                </a:solidFill>
                <a:latin typeface="Segoe UI"/>
              </a:rPr>
              <a:t>Questions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572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Aft>
                <a:spcPts val="500"/>
              </a:spcAft>
            </a:pPr>
            <a:r>
              <a:rPr sz="1400" b="0">
                <a:solidFill>
                  <a:srgbClr val="90CAF9"/>
                </a:solidFill>
                <a:latin typeface="Segoe UI"/>
              </a:rPr>
              <a:t>Truong Dinh Do</a:t>
            </a:r>
          </a:p>
          <a:p>
            <a:pPr algn="l">
              <a:lnSpc>
                <a:spcPts val="2000"/>
              </a:lnSpc>
              <a:spcAft>
                <a:spcPts val="500"/>
              </a:spcAft>
            </a:pPr>
            <a:r>
              <a:rPr sz="1300" b="0">
                <a:solidFill>
                  <a:srgbClr val="90CAF9"/>
                </a:solidFill>
                <a:latin typeface="Segoe UI"/>
              </a:rPr>
              <a:t>RIKEN Center for Advanced Intelligence Project / JAIST</a:t>
            </a:r>
          </a:p>
          <a:p>
            <a:pPr algn="l">
              <a:lnSpc>
                <a:spcPts val="2000"/>
              </a:lnSpc>
              <a:spcAft>
                <a:spcPts val="500"/>
              </a:spcAft>
            </a:pPr>
            <a:r>
              <a:rPr sz="1300" b="0">
                <a:solidFill>
                  <a:srgbClr val="90CAF9"/>
                </a:solidFill>
                <a:latin typeface="Segoe UI"/>
              </a:rPr>
              <a:t>truongdo@jaist.ac.jp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